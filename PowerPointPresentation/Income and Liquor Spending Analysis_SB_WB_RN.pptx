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7"/>
  </p:notesMasterIdLst>
  <p:sldIdLst>
    <p:sldId id="256" r:id="rId2"/>
    <p:sldId id="257" r:id="rId3"/>
    <p:sldId id="258" r:id="rId4"/>
    <p:sldId id="262" r:id="rId5"/>
    <p:sldId id="259" r:id="rId6"/>
    <p:sldId id="260" r:id="rId7"/>
    <p:sldId id="261" r:id="rId8"/>
    <p:sldId id="263" r:id="rId9"/>
    <p:sldId id="264" r:id="rId10"/>
    <p:sldId id="267" r:id="rId11"/>
    <p:sldId id="266" r:id="rId12"/>
    <p:sldId id="265"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0" autoAdjust="0"/>
    <p:restoredTop sz="93047" autoAdjust="0"/>
  </p:normalViewPr>
  <p:slideViewPr>
    <p:cSldViewPr snapToGrid="0">
      <p:cViewPr>
        <p:scale>
          <a:sx n="63" d="100"/>
          <a:sy n="63" d="100"/>
        </p:scale>
        <p:origin x="1454" y="3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D0F7D3-C768-4F50-B09A-1D373574B31F}"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1E9D4-55E7-47E0-A965-6B3270335AE0}" type="slidenum">
              <a:rPr lang="en-US" smtClean="0"/>
              <a:t>‹#›</a:t>
            </a:fld>
            <a:endParaRPr lang="en-US"/>
          </a:p>
        </p:txBody>
      </p:sp>
    </p:spTree>
    <p:extLst>
      <p:ext uri="{BB962C8B-B14F-4D97-AF65-F5344CB8AC3E}">
        <p14:creationId xmlns:p14="http://schemas.microsoft.com/office/powerpoint/2010/main" val="250896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11E9D4-55E7-47E0-A965-6B3270335AE0}" type="slidenum">
              <a:rPr lang="en-US" smtClean="0"/>
              <a:t>12</a:t>
            </a:fld>
            <a:endParaRPr lang="en-US"/>
          </a:p>
        </p:txBody>
      </p:sp>
    </p:spTree>
    <p:extLst>
      <p:ext uri="{BB962C8B-B14F-4D97-AF65-F5344CB8AC3E}">
        <p14:creationId xmlns:p14="http://schemas.microsoft.com/office/powerpoint/2010/main" val="2486979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3874D0-4ADB-4B81-99F4-677C0E05C140}"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49B08-C799-494C-BC77-42D1368F57E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1400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74D0-4ADB-4B81-99F4-677C0E05C140}"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152370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3874D0-4ADB-4B81-99F4-677C0E05C140}"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49B08-C799-494C-BC77-42D1368F57E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033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3874D0-4ADB-4B81-99F4-677C0E05C140}"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1039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3874D0-4ADB-4B81-99F4-677C0E05C140}"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2847585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3874D0-4ADB-4B81-99F4-677C0E05C140}"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1948326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43874D0-4ADB-4B81-99F4-677C0E05C140}" type="datetimeFigureOut">
              <a:rPr lang="en-US" smtClean="0"/>
              <a:t>12/7/2025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3103957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43874D0-4ADB-4B81-99F4-677C0E05C140}" type="datetimeFigureOut">
              <a:rPr lang="en-US" smtClean="0"/>
              <a:t>12/7/2025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DA49B08-C799-494C-BC77-42D1368F57E3}" type="slidenum">
              <a:rPr lang="en-US" smtClean="0"/>
              <a:t>‹#›</a:t>
            </a:fld>
            <a:endParaRPr lang="en-US"/>
          </a:p>
        </p:txBody>
      </p:sp>
    </p:spTree>
    <p:extLst>
      <p:ext uri="{BB962C8B-B14F-4D97-AF65-F5344CB8AC3E}">
        <p14:creationId xmlns:p14="http://schemas.microsoft.com/office/powerpoint/2010/main" val="2075669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3874D0-4ADB-4B81-99F4-677C0E05C140}"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2147425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74D0-4ADB-4B81-99F4-677C0E05C140}"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71950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3874D0-4ADB-4B81-99F4-677C0E05C140}"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49B08-C799-494C-BC77-42D1368F57E3}" type="slidenum">
              <a:rPr lang="en-US" smtClean="0"/>
              <a:t>‹#›</a:t>
            </a:fld>
            <a:endParaRPr lang="en-US"/>
          </a:p>
        </p:txBody>
      </p:sp>
    </p:spTree>
    <p:extLst>
      <p:ext uri="{BB962C8B-B14F-4D97-AF65-F5344CB8AC3E}">
        <p14:creationId xmlns:p14="http://schemas.microsoft.com/office/powerpoint/2010/main" val="3674727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43874D0-4ADB-4B81-99F4-677C0E05C140}" type="datetimeFigureOut">
              <a:rPr lang="en-US" smtClean="0"/>
              <a:t>12/7/2025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DA49B08-C799-494C-BC77-42D1368F57E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846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E1F5-CBE6-A5E3-13FB-114BD5CEFD27}"/>
              </a:ext>
            </a:extLst>
          </p:cNvPr>
          <p:cNvSpPr>
            <a:spLocks noGrp="1"/>
          </p:cNvSpPr>
          <p:nvPr>
            <p:ph type="ctrTitle"/>
          </p:nvPr>
        </p:nvSpPr>
        <p:spPr/>
        <p:txBody>
          <a:bodyPr>
            <a:normAutofit/>
          </a:bodyPr>
          <a:lstStyle/>
          <a:p>
            <a:r>
              <a:rPr lang="en-IN" b="1" dirty="0"/>
              <a:t>Income and Liquor Spending </a:t>
            </a:r>
            <a:r>
              <a:rPr lang="en-IN" b="1" dirty="0" err="1"/>
              <a:t>Behavior</a:t>
            </a:r>
            <a:r>
              <a:rPr lang="en-IN" b="1" dirty="0"/>
              <a:t> Across Iowa Counties</a:t>
            </a:r>
            <a:endParaRPr lang="en-US" b="1" dirty="0"/>
          </a:p>
        </p:txBody>
      </p:sp>
      <p:sp>
        <p:nvSpPr>
          <p:cNvPr id="3" name="Subtitle 2">
            <a:extLst>
              <a:ext uri="{FF2B5EF4-FFF2-40B4-BE49-F238E27FC236}">
                <a16:creationId xmlns:a16="http://schemas.microsoft.com/office/drawing/2014/main" id="{B2F2188F-B8B6-84D6-C246-EB45C795DA84}"/>
              </a:ext>
            </a:extLst>
          </p:cNvPr>
          <p:cNvSpPr>
            <a:spLocks noGrp="1"/>
          </p:cNvSpPr>
          <p:nvPr>
            <p:ph type="subTitle" idx="1"/>
          </p:nvPr>
        </p:nvSpPr>
        <p:spPr/>
        <p:txBody>
          <a:bodyPr/>
          <a:lstStyle/>
          <a:p>
            <a:r>
              <a:rPr lang="en-IN" dirty="0"/>
              <a:t>A Data Driven Policy Analysis (2012 – 2016)</a:t>
            </a:r>
          </a:p>
          <a:p>
            <a:r>
              <a:rPr lang="en-IN" dirty="0"/>
              <a:t>Group 2: Shreyansh Budhia, William Brewster, Ramzi Nia</a:t>
            </a:r>
            <a:endParaRPr lang="en-US" dirty="0"/>
          </a:p>
        </p:txBody>
      </p:sp>
    </p:spTree>
    <p:extLst>
      <p:ext uri="{BB962C8B-B14F-4D97-AF65-F5344CB8AC3E}">
        <p14:creationId xmlns:p14="http://schemas.microsoft.com/office/powerpoint/2010/main" val="3434501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7D9D-AC7F-B296-DDF2-6134938B745E}"/>
              </a:ext>
            </a:extLst>
          </p:cNvPr>
          <p:cNvSpPr>
            <a:spLocks noGrp="1"/>
          </p:cNvSpPr>
          <p:nvPr>
            <p:ph type="title"/>
          </p:nvPr>
        </p:nvSpPr>
        <p:spPr/>
        <p:txBody>
          <a:bodyPr/>
          <a:lstStyle/>
          <a:p>
            <a:r>
              <a:rPr lang="en-IN" b="1" dirty="0"/>
              <a:t>Project Rationale</a:t>
            </a:r>
            <a:endParaRPr lang="en-US" b="1" dirty="0"/>
          </a:p>
        </p:txBody>
      </p:sp>
      <p:sp>
        <p:nvSpPr>
          <p:cNvPr id="3" name="Content Placeholder 2">
            <a:extLst>
              <a:ext uri="{FF2B5EF4-FFF2-40B4-BE49-F238E27FC236}">
                <a16:creationId xmlns:a16="http://schemas.microsoft.com/office/drawing/2014/main" id="{C55BFD01-3847-FF6B-4F10-C541EDA35A53}"/>
              </a:ext>
            </a:extLst>
          </p:cNvPr>
          <p:cNvSpPr>
            <a:spLocks noGrp="1"/>
          </p:cNvSpPr>
          <p:nvPr>
            <p:ph idx="1"/>
          </p:nvPr>
        </p:nvSpPr>
        <p:spPr/>
        <p:txBody>
          <a:bodyPr>
            <a:normAutofit/>
          </a:bodyPr>
          <a:lstStyle/>
          <a:p>
            <a:pPr>
              <a:buFont typeface="Arial" panose="020B0604020202020204" pitchFamily="34" charset="0"/>
              <a:buChar char="•"/>
            </a:pPr>
            <a:r>
              <a:rPr lang="en-IN" dirty="0"/>
              <a:t>Liquor spending varies across Iowa counties. </a:t>
            </a:r>
          </a:p>
          <a:p>
            <a:pPr>
              <a:buFont typeface="Arial" panose="020B0604020202020204" pitchFamily="34" charset="0"/>
              <a:buChar char="•"/>
            </a:pPr>
            <a:r>
              <a:rPr lang="en-IN" dirty="0"/>
              <a:t>Policymakers and distributors need county level insights</a:t>
            </a:r>
          </a:p>
          <a:p>
            <a:pPr>
              <a:buFont typeface="Arial" panose="020B0604020202020204" pitchFamily="34" charset="0"/>
              <a:buChar char="•"/>
            </a:pPr>
            <a:r>
              <a:rPr lang="en-IN" dirty="0"/>
              <a:t>Key questions:</a:t>
            </a:r>
          </a:p>
          <a:p>
            <a:pPr lvl="1">
              <a:buFont typeface="Arial" panose="020B0604020202020204" pitchFamily="34" charset="0"/>
              <a:buChar char="•"/>
            </a:pPr>
            <a:r>
              <a:rPr lang="en-IN" dirty="0"/>
              <a:t>Do geographies with higher median income consume more alcohol in total and in per capita? </a:t>
            </a:r>
          </a:p>
          <a:p>
            <a:pPr lvl="1">
              <a:buFont typeface="Arial" panose="020B0604020202020204" pitchFamily="34" charset="0"/>
              <a:buChar char="•"/>
            </a:pPr>
            <a:r>
              <a:rPr lang="en-IN" dirty="0"/>
              <a:t>Which counties show unusually high consumption?</a:t>
            </a:r>
          </a:p>
          <a:p>
            <a:pPr lvl="1">
              <a:buFont typeface="Arial" panose="020B0604020202020204" pitchFamily="34" charset="0"/>
              <a:buChar char="•"/>
            </a:pPr>
            <a:r>
              <a:rPr lang="en-IN" dirty="0"/>
              <a:t>Are liquor purchasing patterns similar across the state? </a:t>
            </a:r>
          </a:p>
          <a:p>
            <a:pPr marL="201168" lvl="1" indent="0">
              <a:buNone/>
            </a:pPr>
            <a:endParaRPr lang="en-IN" dirty="0"/>
          </a:p>
          <a:p>
            <a:pPr marL="201168" lvl="1" indent="0">
              <a:buNone/>
            </a:pPr>
            <a:r>
              <a:rPr lang="en-IN" dirty="0"/>
              <a:t>The study tries answering:</a:t>
            </a:r>
          </a:p>
          <a:p>
            <a:pPr marL="201168" lvl="1" indent="0">
              <a:buNone/>
            </a:pPr>
            <a:endParaRPr lang="en-IN" dirty="0"/>
          </a:p>
          <a:p>
            <a:pPr marL="201168" lvl="1" indent="0">
              <a:buNone/>
            </a:pPr>
            <a:r>
              <a:rPr lang="en-IN" dirty="0"/>
              <a:t>“Does income influence liquor spending </a:t>
            </a:r>
            <a:r>
              <a:rPr lang="en-IN" dirty="0" err="1"/>
              <a:t>behavior</a:t>
            </a:r>
            <a:r>
              <a:rPr lang="en-IN" dirty="0"/>
              <a:t> across Iowa counties?”</a:t>
            </a:r>
          </a:p>
          <a:p>
            <a:pPr lvl="1">
              <a:buFont typeface="Arial" panose="020B0604020202020204" pitchFamily="34" charset="0"/>
              <a:buChar char="•"/>
            </a:pPr>
            <a:endParaRPr lang="en-US" dirty="0"/>
          </a:p>
        </p:txBody>
      </p:sp>
    </p:spTree>
    <p:extLst>
      <p:ext uri="{BB962C8B-B14F-4D97-AF65-F5344CB8AC3E}">
        <p14:creationId xmlns:p14="http://schemas.microsoft.com/office/powerpoint/2010/main" val="3268809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C1C1D-CE0D-1D77-11DD-40AECEE41584}"/>
              </a:ext>
            </a:extLst>
          </p:cNvPr>
          <p:cNvSpPr>
            <a:spLocks noGrp="1"/>
          </p:cNvSpPr>
          <p:nvPr>
            <p:ph type="title"/>
          </p:nvPr>
        </p:nvSpPr>
        <p:spPr/>
        <p:txBody>
          <a:bodyPr/>
          <a:lstStyle/>
          <a:p>
            <a:r>
              <a:rPr lang="en-IN" dirty="0"/>
              <a:t>Data Sources</a:t>
            </a:r>
            <a:endParaRPr lang="en-US" dirty="0"/>
          </a:p>
        </p:txBody>
      </p:sp>
      <p:sp>
        <p:nvSpPr>
          <p:cNvPr id="3" name="Content Placeholder 2">
            <a:extLst>
              <a:ext uri="{FF2B5EF4-FFF2-40B4-BE49-F238E27FC236}">
                <a16:creationId xmlns:a16="http://schemas.microsoft.com/office/drawing/2014/main" id="{66057147-E196-FDD8-C881-155AD01F813E}"/>
              </a:ext>
            </a:extLst>
          </p:cNvPr>
          <p:cNvSpPr>
            <a:spLocks noGrp="1"/>
          </p:cNvSpPr>
          <p:nvPr>
            <p:ph idx="1"/>
          </p:nvPr>
        </p:nvSpPr>
        <p:spPr/>
        <p:txBody>
          <a:bodyPr>
            <a:normAutofit/>
          </a:bodyPr>
          <a:lstStyle/>
          <a:p>
            <a:pPr marL="0" indent="0">
              <a:buNone/>
            </a:pPr>
            <a:r>
              <a:rPr lang="en-IN" dirty="0"/>
              <a:t>Two major datasets were integrated:  </a:t>
            </a:r>
          </a:p>
          <a:p>
            <a:pPr>
              <a:buFont typeface="Arial" panose="020B0604020202020204" pitchFamily="34" charset="0"/>
              <a:buChar char="•"/>
            </a:pPr>
            <a:r>
              <a:rPr lang="en-IN" dirty="0"/>
              <a:t>Iowa Liquor Sales Dataset(2020)</a:t>
            </a:r>
          </a:p>
          <a:p>
            <a:pPr lvl="1">
              <a:buFont typeface="Arial" panose="020B0604020202020204" pitchFamily="34" charset="0"/>
              <a:buChar char="•"/>
            </a:pPr>
            <a:r>
              <a:rPr lang="en-IN" dirty="0"/>
              <a:t>This dataset contained 990 county category observations</a:t>
            </a:r>
          </a:p>
          <a:p>
            <a:pPr lvl="1">
              <a:buFont typeface="Arial" panose="020B0604020202020204" pitchFamily="34" charset="0"/>
              <a:buChar char="•"/>
            </a:pPr>
            <a:r>
              <a:rPr lang="en-IN" dirty="0"/>
              <a:t>It included total dollar sales, volumes, and product categories</a:t>
            </a:r>
          </a:p>
          <a:p>
            <a:pPr lvl="1">
              <a:buFont typeface="Arial" panose="020B0604020202020204" pitchFamily="34" charset="0"/>
              <a:buChar char="•"/>
            </a:pPr>
            <a:r>
              <a:rPr lang="en-IN" dirty="0"/>
              <a:t>It identified consumption at the county level</a:t>
            </a:r>
          </a:p>
          <a:p>
            <a:pPr>
              <a:buFont typeface="Arial" panose="020B0604020202020204" pitchFamily="34" charset="0"/>
              <a:buChar char="•"/>
            </a:pPr>
            <a:r>
              <a:rPr lang="en-IN" dirty="0"/>
              <a:t>ACS Demographic Dataset(2019)</a:t>
            </a:r>
          </a:p>
          <a:p>
            <a:pPr lvl="1">
              <a:buFont typeface="Arial" panose="020B0604020202020204" pitchFamily="34" charset="0"/>
              <a:buChar char="•"/>
            </a:pPr>
            <a:r>
              <a:rPr lang="en-IN" dirty="0"/>
              <a:t>This dataset contained demographic information for the above mentioned 99 Iowa counties</a:t>
            </a:r>
          </a:p>
          <a:p>
            <a:pPr lvl="1">
              <a:buFont typeface="Arial" panose="020B0604020202020204" pitchFamily="34" charset="0"/>
              <a:buChar char="•"/>
            </a:pPr>
            <a:r>
              <a:rPr lang="en-IN" dirty="0"/>
              <a:t>It contained median household income and total population</a:t>
            </a:r>
          </a:p>
          <a:p>
            <a:pPr lvl="1">
              <a:buFont typeface="Arial" panose="020B0604020202020204" pitchFamily="34" charset="0"/>
              <a:buChar char="•"/>
            </a:pPr>
            <a:r>
              <a:rPr lang="en-IN" dirty="0"/>
              <a:t>It was used to create per-capita consumption measures</a:t>
            </a:r>
          </a:p>
          <a:p>
            <a:pPr marL="201168" lvl="1" indent="0">
              <a:buNone/>
            </a:pPr>
            <a:endParaRPr lang="en-IN" dirty="0"/>
          </a:p>
          <a:p>
            <a:pPr>
              <a:buFont typeface="Wingdings" panose="05000000000000000000" pitchFamily="2" charset="2"/>
              <a:buChar char="§"/>
            </a:pPr>
            <a:endParaRPr lang="en-US" dirty="0"/>
          </a:p>
        </p:txBody>
      </p:sp>
    </p:spTree>
    <p:extLst>
      <p:ext uri="{BB962C8B-B14F-4D97-AF65-F5344CB8AC3E}">
        <p14:creationId xmlns:p14="http://schemas.microsoft.com/office/powerpoint/2010/main" val="3296311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1226E-5BF0-872A-56F7-F9B43951C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0E41F-75C7-2951-794A-3CA02FB5334E}"/>
              </a:ext>
            </a:extLst>
          </p:cNvPr>
          <p:cNvSpPr>
            <a:spLocks noGrp="1"/>
          </p:cNvSpPr>
          <p:nvPr>
            <p:ph type="title"/>
          </p:nvPr>
        </p:nvSpPr>
        <p:spPr/>
        <p:txBody>
          <a:bodyPr/>
          <a:lstStyle/>
          <a:p>
            <a:r>
              <a:rPr lang="en-IN" dirty="0"/>
              <a:t>Data Sources (Contd.)</a:t>
            </a:r>
            <a:endParaRPr lang="en-US" dirty="0"/>
          </a:p>
        </p:txBody>
      </p:sp>
      <p:sp>
        <p:nvSpPr>
          <p:cNvPr id="3" name="Content Placeholder 2">
            <a:extLst>
              <a:ext uri="{FF2B5EF4-FFF2-40B4-BE49-F238E27FC236}">
                <a16:creationId xmlns:a16="http://schemas.microsoft.com/office/drawing/2014/main" id="{7B7F95FC-86F3-01BD-39D3-095A46CCAF7F}"/>
              </a:ext>
            </a:extLst>
          </p:cNvPr>
          <p:cNvSpPr>
            <a:spLocks noGrp="1"/>
          </p:cNvSpPr>
          <p:nvPr>
            <p:ph idx="1"/>
          </p:nvPr>
        </p:nvSpPr>
        <p:spPr/>
        <p:txBody>
          <a:bodyPr>
            <a:normAutofit/>
          </a:bodyPr>
          <a:lstStyle/>
          <a:p>
            <a:pPr marL="0" indent="0">
              <a:buNone/>
            </a:pPr>
            <a:r>
              <a:rPr lang="en-IN" dirty="0"/>
              <a:t>These datasets were merged together to include: </a:t>
            </a:r>
          </a:p>
          <a:p>
            <a:pPr lvl="1">
              <a:buFont typeface="Arial" panose="020B0604020202020204" pitchFamily="34" charset="0"/>
              <a:buChar char="•"/>
            </a:pPr>
            <a:r>
              <a:rPr lang="en-IN" dirty="0"/>
              <a:t>Total sales by county</a:t>
            </a:r>
          </a:p>
          <a:p>
            <a:pPr lvl="1">
              <a:buFont typeface="Arial" panose="020B0604020202020204" pitchFamily="34" charset="0"/>
              <a:buChar char="•"/>
            </a:pPr>
            <a:r>
              <a:rPr lang="en-IN" dirty="0"/>
              <a:t>Dollars per capita</a:t>
            </a:r>
          </a:p>
          <a:p>
            <a:pPr lvl="1">
              <a:buFont typeface="Arial" panose="020B0604020202020204" pitchFamily="34" charset="0"/>
              <a:buChar char="•"/>
            </a:pPr>
            <a:r>
              <a:rPr lang="en-IN" dirty="0"/>
              <a:t>Category level spending percentages</a:t>
            </a:r>
          </a:p>
          <a:p>
            <a:pPr lvl="1">
              <a:buFont typeface="Arial" panose="020B0604020202020204" pitchFamily="34" charset="0"/>
              <a:buChar char="•"/>
            </a:pPr>
            <a:r>
              <a:rPr lang="en-IN" dirty="0"/>
              <a:t>County demographics</a:t>
            </a:r>
          </a:p>
          <a:p>
            <a:pPr marL="0" indent="0">
              <a:buNone/>
            </a:pPr>
            <a:endParaRPr lang="en-US" dirty="0"/>
          </a:p>
        </p:txBody>
      </p:sp>
    </p:spTree>
    <p:extLst>
      <p:ext uri="{BB962C8B-B14F-4D97-AF65-F5344CB8AC3E}">
        <p14:creationId xmlns:p14="http://schemas.microsoft.com/office/powerpoint/2010/main" val="3119305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A5F1-86DC-4788-C6EC-AF8D337E0745}"/>
              </a:ext>
            </a:extLst>
          </p:cNvPr>
          <p:cNvSpPr>
            <a:spLocks noGrp="1"/>
          </p:cNvSpPr>
          <p:nvPr>
            <p:ph type="title"/>
          </p:nvPr>
        </p:nvSpPr>
        <p:spPr/>
        <p:txBody>
          <a:bodyPr/>
          <a:lstStyle/>
          <a:p>
            <a:r>
              <a:rPr lang="en-IN" dirty="0"/>
              <a:t>Per Capita Spending Transformation</a:t>
            </a:r>
            <a:endParaRPr lang="en-US" dirty="0"/>
          </a:p>
        </p:txBody>
      </p:sp>
      <p:sp>
        <p:nvSpPr>
          <p:cNvPr id="3" name="Content Placeholder 2">
            <a:extLst>
              <a:ext uri="{FF2B5EF4-FFF2-40B4-BE49-F238E27FC236}">
                <a16:creationId xmlns:a16="http://schemas.microsoft.com/office/drawing/2014/main" id="{D9E7AF0D-4031-B1AE-ABB2-A4D77BC23210}"/>
              </a:ext>
            </a:extLst>
          </p:cNvPr>
          <p:cNvSpPr>
            <a:spLocks noGrp="1"/>
          </p:cNvSpPr>
          <p:nvPr>
            <p:ph idx="1"/>
          </p:nvPr>
        </p:nvSpPr>
        <p:spPr/>
        <p:txBody>
          <a:bodyPr/>
          <a:lstStyle/>
          <a:p>
            <a:r>
              <a:rPr lang="en-IN" dirty="0"/>
              <a:t>Total sales data was transformed into per capita information to: </a:t>
            </a:r>
          </a:p>
          <a:p>
            <a:pPr lvl="1">
              <a:buFont typeface="Arial" panose="020B0604020202020204" pitchFamily="34" charset="0"/>
              <a:buChar char="•"/>
            </a:pPr>
            <a:r>
              <a:rPr lang="en-IN" dirty="0"/>
              <a:t>Control for county size</a:t>
            </a:r>
          </a:p>
          <a:p>
            <a:pPr lvl="1">
              <a:buFont typeface="Arial" panose="020B0604020202020204" pitchFamily="34" charset="0"/>
              <a:buChar char="•"/>
            </a:pPr>
            <a:r>
              <a:rPr lang="en-IN" dirty="0"/>
              <a:t>Reveal true household based consumption intensity</a:t>
            </a:r>
          </a:p>
          <a:p>
            <a:pPr lvl="1">
              <a:buFont typeface="Arial" panose="020B0604020202020204" pitchFamily="34" charset="0"/>
              <a:buChar char="•"/>
            </a:pPr>
            <a:r>
              <a:rPr lang="en-IN" dirty="0"/>
              <a:t>Allow meaningful comparison across all 99 counties</a:t>
            </a:r>
          </a:p>
          <a:p>
            <a:pPr marL="201168" lvl="1" indent="0">
              <a:buNone/>
            </a:pPr>
            <a:endParaRPr lang="en-IN" dirty="0"/>
          </a:p>
          <a:p>
            <a:pPr marL="0" indent="0">
              <a:buNone/>
            </a:pPr>
            <a:r>
              <a:rPr lang="en-IN" dirty="0"/>
              <a:t>This was computed as: </a:t>
            </a:r>
          </a:p>
          <a:p>
            <a:pPr lvl="1">
              <a:buFont typeface="Arial" panose="020B0604020202020204" pitchFamily="34" charset="0"/>
              <a:buChar char="•"/>
            </a:pPr>
            <a:r>
              <a:rPr lang="en-IN" dirty="0"/>
              <a:t>Per Capita Sending = Total Sales ($)/Population</a:t>
            </a:r>
            <a:endParaRPr lang="en-US" dirty="0"/>
          </a:p>
        </p:txBody>
      </p:sp>
    </p:spTree>
    <p:extLst>
      <p:ext uri="{BB962C8B-B14F-4D97-AF65-F5344CB8AC3E}">
        <p14:creationId xmlns:p14="http://schemas.microsoft.com/office/powerpoint/2010/main" val="2800873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6FDD3-D97C-00F9-2D13-DAB2E9DF5DAA}"/>
              </a:ext>
            </a:extLst>
          </p:cNvPr>
          <p:cNvSpPr>
            <a:spLocks noGrp="1"/>
          </p:cNvSpPr>
          <p:nvPr>
            <p:ph type="title"/>
          </p:nvPr>
        </p:nvSpPr>
        <p:spPr/>
        <p:txBody>
          <a:bodyPr/>
          <a:lstStyle/>
          <a:p>
            <a:r>
              <a:rPr lang="en-IN" dirty="0"/>
              <a:t>Descriptive Statistics: Income, Sales, and Population</a:t>
            </a:r>
            <a:endParaRPr lang="en-US" dirty="0"/>
          </a:p>
        </p:txBody>
      </p:sp>
      <p:graphicFrame>
        <p:nvGraphicFramePr>
          <p:cNvPr id="4" name="Content Placeholder 3">
            <a:extLst>
              <a:ext uri="{FF2B5EF4-FFF2-40B4-BE49-F238E27FC236}">
                <a16:creationId xmlns:a16="http://schemas.microsoft.com/office/drawing/2014/main" id="{D02C2D97-F4DD-3B94-7FB1-E128E8302B37}"/>
              </a:ext>
            </a:extLst>
          </p:cNvPr>
          <p:cNvGraphicFramePr>
            <a:graphicFrameLocks noGrp="1"/>
          </p:cNvGraphicFramePr>
          <p:nvPr>
            <p:ph idx="1"/>
            <p:extLst>
              <p:ext uri="{D42A27DB-BD31-4B8C-83A1-F6EECF244321}">
                <p14:modId xmlns:p14="http://schemas.microsoft.com/office/powerpoint/2010/main" val="772267114"/>
              </p:ext>
            </p:extLst>
          </p:nvPr>
        </p:nvGraphicFramePr>
        <p:xfrm>
          <a:off x="1110478" y="1931226"/>
          <a:ext cx="10058400" cy="3189415"/>
        </p:xfrm>
        <a:graphic>
          <a:graphicData uri="http://schemas.openxmlformats.org/drawingml/2006/table">
            <a:tbl>
              <a:tblPr firstRow="1" firstCol="1" bandRow="1">
                <a:tableStyleId>{5C22544A-7EE6-4342-B048-85BDC9FD1C3A}</a:tableStyleId>
              </a:tblPr>
              <a:tblGrid>
                <a:gridCol w="3345940">
                  <a:extLst>
                    <a:ext uri="{9D8B030D-6E8A-4147-A177-3AD203B41FA5}">
                      <a16:colId xmlns:a16="http://schemas.microsoft.com/office/drawing/2014/main" val="2392792873"/>
                    </a:ext>
                  </a:extLst>
                </a:gridCol>
                <a:gridCol w="1514198">
                  <a:extLst>
                    <a:ext uri="{9D8B030D-6E8A-4147-A177-3AD203B41FA5}">
                      <a16:colId xmlns:a16="http://schemas.microsoft.com/office/drawing/2014/main" val="2530503642"/>
                    </a:ext>
                  </a:extLst>
                </a:gridCol>
                <a:gridCol w="1793519">
                  <a:extLst>
                    <a:ext uri="{9D8B030D-6E8A-4147-A177-3AD203B41FA5}">
                      <a16:colId xmlns:a16="http://schemas.microsoft.com/office/drawing/2014/main" val="3850895442"/>
                    </a:ext>
                  </a:extLst>
                </a:gridCol>
                <a:gridCol w="1734713">
                  <a:extLst>
                    <a:ext uri="{9D8B030D-6E8A-4147-A177-3AD203B41FA5}">
                      <a16:colId xmlns:a16="http://schemas.microsoft.com/office/drawing/2014/main" val="1358953500"/>
                    </a:ext>
                  </a:extLst>
                </a:gridCol>
                <a:gridCol w="1670030">
                  <a:extLst>
                    <a:ext uri="{9D8B030D-6E8A-4147-A177-3AD203B41FA5}">
                      <a16:colId xmlns:a16="http://schemas.microsoft.com/office/drawing/2014/main" val="3449418844"/>
                    </a:ext>
                  </a:extLst>
                </a:gridCol>
              </a:tblGrid>
              <a:tr h="590426">
                <a:tc>
                  <a:txBody>
                    <a:bodyPr/>
                    <a:lstStyle/>
                    <a:p>
                      <a:pPr algn="l">
                        <a:lnSpc>
                          <a:spcPct val="115000"/>
                        </a:lnSpc>
                        <a:spcAft>
                          <a:spcPts val="800"/>
                        </a:spcAft>
                        <a:buNone/>
                      </a:pPr>
                      <a:r>
                        <a:rPr lang="en-US" sz="1200" kern="100">
                          <a:effectLst/>
                        </a:rPr>
                        <a:t>Variable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Mean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Median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Minimum</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Maximum</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72965294"/>
                  </a:ext>
                </a:extLst>
              </a:tr>
              <a:tr h="793179">
                <a:tc>
                  <a:txBody>
                    <a:bodyPr/>
                    <a:lstStyle/>
                    <a:p>
                      <a:pPr algn="l">
                        <a:lnSpc>
                          <a:spcPct val="115000"/>
                        </a:lnSpc>
                        <a:spcAft>
                          <a:spcPts val="800"/>
                        </a:spcAft>
                        <a:buNone/>
                      </a:pPr>
                      <a:r>
                        <a:rPr lang="en-US" sz="1200" kern="100">
                          <a:effectLst/>
                        </a:rPr>
                        <a:t>Median Household Income ($)</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29,981.98</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30,253.50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18,959.00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43,120.00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021571702"/>
                  </a:ext>
                </a:extLst>
              </a:tr>
              <a:tr h="590426">
                <a:tc>
                  <a:txBody>
                    <a:bodyPr/>
                    <a:lstStyle/>
                    <a:p>
                      <a:pPr algn="l">
                        <a:lnSpc>
                          <a:spcPct val="115000"/>
                        </a:lnSpc>
                        <a:spcAft>
                          <a:spcPts val="800"/>
                        </a:spcAft>
                        <a:buNone/>
                      </a:pPr>
                      <a:r>
                        <a:rPr lang="en-US" sz="1200" kern="100">
                          <a:effectLst/>
                        </a:rPr>
                        <a:t>Population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31,556.47</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15,606.50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dirty="0">
                          <a:effectLst/>
                        </a:rPr>
                        <a:t>3,822.00</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459,159.00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373701296"/>
                  </a:ext>
                </a:extLst>
              </a:tr>
              <a:tr h="626313">
                <a:tc>
                  <a:txBody>
                    <a:bodyPr/>
                    <a:lstStyle/>
                    <a:p>
                      <a:pPr algn="l">
                        <a:lnSpc>
                          <a:spcPct val="115000"/>
                        </a:lnSpc>
                        <a:spcAft>
                          <a:spcPts val="800"/>
                        </a:spcAft>
                        <a:buNone/>
                      </a:pPr>
                      <a:r>
                        <a:rPr lang="en-US" sz="1200" kern="100">
                          <a:effectLst/>
                        </a:rPr>
                        <a:t>Total Liquor Sales ($)</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2,680,881.68</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782,309.50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dirty="0">
                          <a:effectLst/>
                        </a:rPr>
                        <a:t>25,053.00</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61,059,636.00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50160099"/>
                  </a:ext>
                </a:extLst>
              </a:tr>
              <a:tr h="589071">
                <a:tc>
                  <a:txBody>
                    <a:bodyPr/>
                    <a:lstStyle/>
                    <a:p>
                      <a:pPr algn="l">
                        <a:lnSpc>
                          <a:spcPct val="115000"/>
                        </a:lnSpc>
                        <a:spcAft>
                          <a:spcPts val="800"/>
                        </a:spcAft>
                        <a:buNone/>
                      </a:pPr>
                      <a:r>
                        <a:rPr lang="en-US" sz="1200" kern="100">
                          <a:effectLst/>
                        </a:rPr>
                        <a:t>Liquor Dollars Per Capita ($)</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58.50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55.61</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a:effectLst/>
                        </a:rPr>
                        <a:t>3.57</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l">
                        <a:lnSpc>
                          <a:spcPct val="115000"/>
                        </a:lnSpc>
                        <a:spcAft>
                          <a:spcPts val="800"/>
                        </a:spcAft>
                        <a:buNone/>
                      </a:pPr>
                      <a:r>
                        <a:rPr lang="en-US" sz="1200" kern="100" dirty="0">
                          <a:effectLst/>
                        </a:rPr>
                        <a:t>220.83</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41498969"/>
                  </a:ext>
                </a:extLst>
              </a:tr>
            </a:tbl>
          </a:graphicData>
        </a:graphic>
      </p:graphicFrame>
    </p:spTree>
    <p:extLst>
      <p:ext uri="{BB962C8B-B14F-4D97-AF65-F5344CB8AC3E}">
        <p14:creationId xmlns:p14="http://schemas.microsoft.com/office/powerpoint/2010/main" val="690225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EB0CB-FAD6-DEB0-A099-44551F4734F2}"/>
              </a:ext>
            </a:extLst>
          </p:cNvPr>
          <p:cNvSpPr>
            <a:spLocks noGrp="1"/>
          </p:cNvSpPr>
          <p:nvPr>
            <p:ph type="title"/>
          </p:nvPr>
        </p:nvSpPr>
        <p:spPr/>
        <p:txBody>
          <a:bodyPr/>
          <a:lstStyle/>
          <a:p>
            <a:r>
              <a:rPr lang="en-IN" dirty="0"/>
              <a:t>Distribution of Per Capita Spending</a:t>
            </a:r>
            <a:endParaRPr lang="en-US" dirty="0"/>
          </a:p>
        </p:txBody>
      </p:sp>
      <p:sp>
        <p:nvSpPr>
          <p:cNvPr id="3" name="Content Placeholder 2">
            <a:extLst>
              <a:ext uri="{FF2B5EF4-FFF2-40B4-BE49-F238E27FC236}">
                <a16:creationId xmlns:a16="http://schemas.microsoft.com/office/drawing/2014/main" id="{F18B8180-5759-DCCB-DBA4-A1A20E939DB2}"/>
              </a:ext>
            </a:extLst>
          </p:cNvPr>
          <p:cNvSpPr>
            <a:spLocks noGrp="1"/>
          </p:cNvSpPr>
          <p:nvPr>
            <p:ph idx="1"/>
          </p:nvPr>
        </p:nvSpPr>
        <p:spPr>
          <a:xfrm>
            <a:off x="1097280" y="1845734"/>
            <a:ext cx="4775619" cy="4023360"/>
          </a:xfrm>
        </p:spPr>
        <p:txBody>
          <a:bodyPr>
            <a:normAutofit/>
          </a:bodyPr>
          <a:lstStyle/>
          <a:p>
            <a:r>
              <a:rPr lang="en-IN" dirty="0"/>
              <a:t>The distribution is highly right skewed: </a:t>
            </a:r>
          </a:p>
          <a:p>
            <a:pPr>
              <a:buFont typeface="Wingdings" panose="05000000000000000000" pitchFamily="2" charset="2"/>
              <a:buChar char="§"/>
            </a:pPr>
            <a:r>
              <a:rPr lang="en-IN" dirty="0"/>
              <a:t>Most counties fall between $30-$80 per person per year</a:t>
            </a:r>
          </a:p>
          <a:p>
            <a:pPr>
              <a:buFont typeface="Wingdings" panose="05000000000000000000" pitchFamily="2" charset="2"/>
              <a:buChar char="§"/>
            </a:pPr>
            <a:r>
              <a:rPr lang="en-IN" dirty="0"/>
              <a:t>Several counties exceed $120</a:t>
            </a:r>
          </a:p>
          <a:p>
            <a:pPr>
              <a:buFont typeface="Wingdings" panose="05000000000000000000" pitchFamily="2" charset="2"/>
              <a:buChar char="§"/>
            </a:pPr>
            <a:r>
              <a:rPr lang="en-IN" dirty="0"/>
              <a:t>One county surpasses $220</a:t>
            </a:r>
          </a:p>
          <a:p>
            <a:pPr marL="0" indent="0">
              <a:buNone/>
            </a:pPr>
            <a:endParaRPr lang="en-IN" dirty="0"/>
          </a:p>
          <a:p>
            <a:pPr marL="0" indent="0">
              <a:buNone/>
            </a:pPr>
            <a:r>
              <a:rPr lang="en-IN" dirty="0"/>
              <a:t>A small group of counties exhibits significant higher consumption, disproportionately influencing statewide averages</a:t>
            </a:r>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1F18C0DF-2D82-C0BB-3D5F-3E61610FB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208" y="1845734"/>
            <a:ext cx="5169472" cy="3813861"/>
          </a:xfrm>
          <a:prstGeom prst="rect">
            <a:avLst/>
          </a:prstGeom>
        </p:spPr>
      </p:pic>
    </p:spTree>
    <p:extLst>
      <p:ext uri="{BB962C8B-B14F-4D97-AF65-F5344CB8AC3E}">
        <p14:creationId xmlns:p14="http://schemas.microsoft.com/office/powerpoint/2010/main" val="3801717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32E3-7BDA-1FF0-963C-2C4597CE29DA}"/>
              </a:ext>
            </a:extLst>
          </p:cNvPr>
          <p:cNvSpPr>
            <a:spLocks noGrp="1"/>
          </p:cNvSpPr>
          <p:nvPr>
            <p:ph type="title"/>
          </p:nvPr>
        </p:nvSpPr>
        <p:spPr>
          <a:xfrm>
            <a:off x="1066800" y="183423"/>
            <a:ext cx="10058400" cy="1450757"/>
          </a:xfrm>
        </p:spPr>
        <p:txBody>
          <a:bodyPr/>
          <a:lstStyle/>
          <a:p>
            <a:r>
              <a:rPr lang="en-IN" dirty="0"/>
              <a:t>Distribution of Per Capita Spending (Contd.)</a:t>
            </a:r>
            <a:endParaRPr lang="en-US" dirty="0"/>
          </a:p>
        </p:txBody>
      </p:sp>
      <p:pic>
        <p:nvPicPr>
          <p:cNvPr id="5" name="Content Placeholder 4">
            <a:extLst>
              <a:ext uri="{FF2B5EF4-FFF2-40B4-BE49-F238E27FC236}">
                <a16:creationId xmlns:a16="http://schemas.microsoft.com/office/drawing/2014/main" id="{D171B0FF-21A8-E0DF-4101-2CDA8AE6D0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01251" y="1878346"/>
            <a:ext cx="2423949" cy="4022725"/>
          </a:xfrm>
        </p:spPr>
      </p:pic>
      <p:sp>
        <p:nvSpPr>
          <p:cNvPr id="7" name="TextBox 6">
            <a:extLst>
              <a:ext uri="{FF2B5EF4-FFF2-40B4-BE49-F238E27FC236}">
                <a16:creationId xmlns:a16="http://schemas.microsoft.com/office/drawing/2014/main" id="{A9FEFBF2-E74E-E176-89CD-266BF62E9244}"/>
              </a:ext>
            </a:extLst>
          </p:cNvPr>
          <p:cNvSpPr txBox="1"/>
          <p:nvPr/>
        </p:nvSpPr>
        <p:spPr>
          <a:xfrm>
            <a:off x="1066800" y="1878346"/>
            <a:ext cx="6945984" cy="3170099"/>
          </a:xfrm>
          <a:prstGeom prst="rect">
            <a:avLst/>
          </a:prstGeom>
          <a:noFill/>
        </p:spPr>
        <p:txBody>
          <a:bodyPr wrap="square" rtlCol="0">
            <a:spAutoFit/>
          </a:bodyPr>
          <a:lstStyle/>
          <a:p>
            <a:r>
              <a:rPr lang="en-IN" sz="2000" dirty="0"/>
              <a:t>The boxplot visually reinforces:</a:t>
            </a:r>
          </a:p>
          <a:p>
            <a:endParaRPr lang="en-IN" sz="2000" dirty="0"/>
          </a:p>
          <a:p>
            <a:pPr marL="342900" indent="-342900">
              <a:buFont typeface="Arial" panose="020B0604020202020204" pitchFamily="34" charset="0"/>
              <a:buChar char="•"/>
            </a:pPr>
            <a:r>
              <a:rPr lang="en-IN" sz="2000" dirty="0"/>
              <a:t>A wide interquartile range, indicating genuine variation</a:t>
            </a:r>
          </a:p>
          <a:p>
            <a:pPr marL="342900" indent="-342900">
              <a:buFont typeface="Arial" panose="020B0604020202020204" pitchFamily="34" charset="0"/>
              <a:buChar char="•"/>
            </a:pPr>
            <a:r>
              <a:rPr lang="en-IN" sz="2000" dirty="0"/>
              <a:t>Several upper tail outliers, showing very high spending counties</a:t>
            </a:r>
          </a:p>
          <a:p>
            <a:pPr marL="342900" indent="-342900">
              <a:buFont typeface="Arial" panose="020B0604020202020204" pitchFamily="34" charset="0"/>
              <a:buChar char="•"/>
            </a:pPr>
            <a:r>
              <a:rPr lang="en-IN" sz="2000" dirty="0"/>
              <a:t>A moderate median around $55 per capita</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endParaRPr lang="en-IN" sz="2000" dirty="0"/>
          </a:p>
          <a:p>
            <a:r>
              <a:rPr lang="en-IN" sz="2000" dirty="0"/>
              <a:t>Therefore, liquor spending intensity does not seem to be uniform </a:t>
            </a:r>
          </a:p>
          <a:p>
            <a:endParaRPr lang="en-US" sz="2000" dirty="0"/>
          </a:p>
        </p:txBody>
      </p:sp>
    </p:spTree>
    <p:extLst>
      <p:ext uri="{BB962C8B-B14F-4D97-AF65-F5344CB8AC3E}">
        <p14:creationId xmlns:p14="http://schemas.microsoft.com/office/powerpoint/2010/main" val="827252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CC3C-7C15-53CA-39E7-B4E2FEE2827D}"/>
              </a:ext>
            </a:extLst>
          </p:cNvPr>
          <p:cNvSpPr>
            <a:spLocks noGrp="1"/>
          </p:cNvSpPr>
          <p:nvPr>
            <p:ph type="title"/>
          </p:nvPr>
        </p:nvSpPr>
        <p:spPr>
          <a:xfrm>
            <a:off x="1097280" y="258323"/>
            <a:ext cx="10058400" cy="1450757"/>
          </a:xfrm>
        </p:spPr>
        <p:txBody>
          <a:bodyPr/>
          <a:lstStyle/>
          <a:p>
            <a:r>
              <a:rPr lang="en-IN" dirty="0"/>
              <a:t>Total Sales by County</a:t>
            </a:r>
            <a:endParaRPr lang="en-US" dirty="0"/>
          </a:p>
        </p:txBody>
      </p:sp>
      <p:pic>
        <p:nvPicPr>
          <p:cNvPr id="5" name="Content Placeholder 4">
            <a:extLst>
              <a:ext uri="{FF2B5EF4-FFF2-40B4-BE49-F238E27FC236}">
                <a16:creationId xmlns:a16="http://schemas.microsoft.com/office/drawing/2014/main" id="{1E528A8F-0EB8-103D-8997-F282BF57D3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78600" y="1"/>
            <a:ext cx="5613400" cy="6858000"/>
          </a:xfrm>
        </p:spPr>
      </p:pic>
      <p:sp>
        <p:nvSpPr>
          <p:cNvPr id="7" name="TextBox 6">
            <a:extLst>
              <a:ext uri="{FF2B5EF4-FFF2-40B4-BE49-F238E27FC236}">
                <a16:creationId xmlns:a16="http://schemas.microsoft.com/office/drawing/2014/main" id="{83914140-E832-6005-C4E7-203DC2E3DEA4}"/>
              </a:ext>
            </a:extLst>
          </p:cNvPr>
          <p:cNvSpPr txBox="1"/>
          <p:nvPr/>
        </p:nvSpPr>
        <p:spPr>
          <a:xfrm>
            <a:off x="1274618" y="1925782"/>
            <a:ext cx="5140037" cy="3970318"/>
          </a:xfrm>
          <a:prstGeom prst="rect">
            <a:avLst/>
          </a:prstGeom>
          <a:noFill/>
        </p:spPr>
        <p:txBody>
          <a:bodyPr wrap="square" rtlCol="0">
            <a:spAutoFit/>
          </a:bodyPr>
          <a:lstStyle/>
          <a:p>
            <a:r>
              <a:rPr lang="en-IN" dirty="0"/>
              <a:t>Large urban counties seem to dominate sales: </a:t>
            </a:r>
          </a:p>
          <a:p>
            <a:endParaRPr lang="en-IN" dirty="0"/>
          </a:p>
          <a:p>
            <a:pPr marL="285750" indent="-285750">
              <a:buFont typeface="Arial" panose="020B0604020202020204" pitchFamily="34" charset="0"/>
              <a:buChar char="•"/>
            </a:pPr>
            <a:r>
              <a:rPr lang="en-IN" dirty="0"/>
              <a:t>Polk, Linn, Johnson seem to have the highest total liquor sales</a:t>
            </a:r>
          </a:p>
          <a:p>
            <a:pPr marL="285750" indent="-285750">
              <a:buFont typeface="Arial" panose="020B0604020202020204" pitchFamily="34" charset="0"/>
              <a:buChar char="•"/>
            </a:pPr>
            <a:r>
              <a:rPr lang="en-IN" dirty="0"/>
              <a:t>This pattern mirrors population distribution in the region</a:t>
            </a:r>
          </a:p>
          <a:p>
            <a:pPr marL="285750" indent="-285750">
              <a:buFont typeface="Arial" panose="020B0604020202020204" pitchFamily="34" charset="0"/>
              <a:buChar char="•"/>
            </a:pPr>
            <a:r>
              <a:rPr lang="en-IN" dirty="0"/>
              <a:t>Higher sales does not necessarily imply higher individual consumption</a:t>
            </a:r>
          </a:p>
          <a:p>
            <a:pPr marL="285750" indent="-285750">
              <a:buFont typeface="Arial" panose="020B0604020202020204" pitchFamily="34" charset="0"/>
              <a:buChar char="•"/>
            </a:pPr>
            <a:r>
              <a:rPr lang="en-IN" dirty="0"/>
              <a:t>Comparative graphs in the next slide showcase highest total liquor sales counties versus highest per capita sales counties. </a:t>
            </a:r>
          </a:p>
          <a:p>
            <a:endParaRPr lang="en-IN" dirty="0"/>
          </a:p>
          <a:p>
            <a:endParaRPr lang="en-IN"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8991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4E62DA-13F1-F2A0-E322-0773CAE57C64}"/>
            </a:ext>
          </a:extLst>
        </p:cNvPr>
        <p:cNvGrpSpPr/>
        <p:nvPr/>
      </p:nvGrpSpPr>
      <p:grpSpPr>
        <a:xfrm>
          <a:off x="0" y="0"/>
          <a:ext cx="0" cy="0"/>
          <a:chOff x="0" y="0"/>
          <a:chExt cx="0" cy="0"/>
        </a:xfrm>
      </p:grpSpPr>
      <p:pic>
        <p:nvPicPr>
          <p:cNvPr id="22" name="Content Placeholder 21">
            <a:extLst>
              <a:ext uri="{FF2B5EF4-FFF2-40B4-BE49-F238E27FC236}">
                <a16:creationId xmlns:a16="http://schemas.microsoft.com/office/drawing/2014/main" id="{A59AB168-54F7-58C5-35E4-1547EADECB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846" y="135686"/>
            <a:ext cx="10326307" cy="2790394"/>
          </a:xfrm>
        </p:spPr>
      </p:pic>
      <p:pic>
        <p:nvPicPr>
          <p:cNvPr id="24" name="Picture 23">
            <a:extLst>
              <a:ext uri="{FF2B5EF4-FFF2-40B4-BE49-F238E27FC236}">
                <a16:creationId xmlns:a16="http://schemas.microsoft.com/office/drawing/2014/main" id="{5EABC183-A9D6-38B4-707A-D4DC039A5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846" y="3064645"/>
            <a:ext cx="10912786" cy="2758679"/>
          </a:xfrm>
          <a:prstGeom prst="rect">
            <a:avLst/>
          </a:prstGeom>
        </p:spPr>
      </p:pic>
    </p:spTree>
    <p:extLst>
      <p:ext uri="{BB962C8B-B14F-4D97-AF65-F5344CB8AC3E}">
        <p14:creationId xmlns:p14="http://schemas.microsoft.com/office/powerpoint/2010/main" val="1292803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DD6D9-B423-3241-3CC1-FCA7CD7C4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3F5BF-C4F2-7D54-D9AA-DC9C214273D7}"/>
              </a:ext>
            </a:extLst>
          </p:cNvPr>
          <p:cNvSpPr>
            <a:spLocks noGrp="1"/>
          </p:cNvSpPr>
          <p:nvPr>
            <p:ph type="title"/>
          </p:nvPr>
        </p:nvSpPr>
        <p:spPr>
          <a:xfrm>
            <a:off x="1274618" y="237513"/>
            <a:ext cx="10058400" cy="1450757"/>
          </a:xfrm>
        </p:spPr>
        <p:txBody>
          <a:bodyPr/>
          <a:lstStyle/>
          <a:p>
            <a:r>
              <a:rPr lang="en-IN" dirty="0"/>
              <a:t>Total Sales by County </a:t>
            </a:r>
            <a:br>
              <a:rPr lang="en-IN" dirty="0"/>
            </a:br>
            <a:r>
              <a:rPr lang="en-IN" dirty="0"/>
              <a:t>(Contd.)</a:t>
            </a:r>
            <a:endParaRPr lang="en-US" dirty="0"/>
          </a:p>
        </p:txBody>
      </p:sp>
      <p:sp>
        <p:nvSpPr>
          <p:cNvPr id="7" name="TextBox 6">
            <a:extLst>
              <a:ext uri="{FF2B5EF4-FFF2-40B4-BE49-F238E27FC236}">
                <a16:creationId xmlns:a16="http://schemas.microsoft.com/office/drawing/2014/main" id="{B8991084-94B5-4831-3DA5-ECC94EBF9420}"/>
              </a:ext>
            </a:extLst>
          </p:cNvPr>
          <p:cNvSpPr txBox="1"/>
          <p:nvPr/>
        </p:nvSpPr>
        <p:spPr>
          <a:xfrm>
            <a:off x="1274618" y="1925782"/>
            <a:ext cx="5140037" cy="2308324"/>
          </a:xfrm>
          <a:prstGeom prst="rect">
            <a:avLst/>
          </a:prstGeom>
          <a:noFill/>
        </p:spPr>
        <p:txBody>
          <a:bodyPr wrap="square" rtlCol="0">
            <a:spAutoFit/>
          </a:bodyPr>
          <a:lstStyle/>
          <a:p>
            <a:pPr marL="285750" indent="-285750">
              <a:buFont typeface="Arial" panose="020B0604020202020204" pitchFamily="34" charset="0"/>
              <a:buChar char="•"/>
            </a:pPr>
            <a:endParaRPr lang="en-IN" dirty="0"/>
          </a:p>
          <a:p>
            <a:endParaRPr lang="en-IN" dirty="0"/>
          </a:p>
          <a:p>
            <a:pPr marL="285750" indent="-285750">
              <a:buFont typeface="Arial" panose="020B0604020202020204" pitchFamily="34" charset="0"/>
              <a:buChar char="•"/>
            </a:pPr>
            <a:r>
              <a:rPr lang="en-US" dirty="0"/>
              <a:t>As demonstrated in the graphs, counties with highest liquor sales and highest per capita liquor sales are not necessarily the same. Dickinson county, for example, ranks extremely high in per capita liquor spending despite not being a top sales county. </a:t>
            </a:r>
          </a:p>
        </p:txBody>
      </p:sp>
      <p:pic>
        <p:nvPicPr>
          <p:cNvPr id="8" name="Content Placeholder 7">
            <a:extLst>
              <a:ext uri="{FF2B5EF4-FFF2-40B4-BE49-F238E27FC236}">
                <a16:creationId xmlns:a16="http://schemas.microsoft.com/office/drawing/2014/main" id="{C75E5725-E5A0-949B-A782-16FED1BB3A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4655" y="0"/>
            <a:ext cx="5777345" cy="6858000"/>
          </a:xfrm>
        </p:spPr>
      </p:pic>
    </p:spTree>
    <p:extLst>
      <p:ext uri="{BB962C8B-B14F-4D97-AF65-F5344CB8AC3E}">
        <p14:creationId xmlns:p14="http://schemas.microsoft.com/office/powerpoint/2010/main" val="3107782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7D6F5-5AE3-1C64-B67B-B037C509560D}"/>
              </a:ext>
            </a:extLst>
          </p:cNvPr>
          <p:cNvSpPr>
            <a:spLocks noGrp="1"/>
          </p:cNvSpPr>
          <p:nvPr>
            <p:ph type="title"/>
          </p:nvPr>
        </p:nvSpPr>
        <p:spPr/>
        <p:txBody>
          <a:bodyPr/>
          <a:lstStyle/>
          <a:p>
            <a:r>
              <a:rPr lang="en-IN" dirty="0"/>
              <a:t>Income vs Liquor Spending Per Capita</a:t>
            </a:r>
            <a:endParaRPr lang="en-US" dirty="0"/>
          </a:p>
        </p:txBody>
      </p:sp>
      <p:pic>
        <p:nvPicPr>
          <p:cNvPr id="4" name="Content Placeholder 3" descr="A graph of a bar chart&#10;&#10;AI-generated content may be incorrect.">
            <a:extLst>
              <a:ext uri="{FF2B5EF4-FFF2-40B4-BE49-F238E27FC236}">
                <a16:creationId xmlns:a16="http://schemas.microsoft.com/office/drawing/2014/main" id="{2DB2FBA5-EFEB-F438-3D25-57A84F6741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505926" y="1760879"/>
            <a:ext cx="5466618" cy="4530193"/>
          </a:xfrm>
          <a:prstGeom prst="rect">
            <a:avLst/>
          </a:prstGeom>
        </p:spPr>
      </p:pic>
      <p:sp>
        <p:nvSpPr>
          <p:cNvPr id="6" name="TextBox 5">
            <a:extLst>
              <a:ext uri="{FF2B5EF4-FFF2-40B4-BE49-F238E27FC236}">
                <a16:creationId xmlns:a16="http://schemas.microsoft.com/office/drawing/2014/main" id="{C0463873-26B3-CC43-618D-C0A921C6D67B}"/>
              </a:ext>
            </a:extLst>
          </p:cNvPr>
          <p:cNvSpPr txBox="1"/>
          <p:nvPr/>
        </p:nvSpPr>
        <p:spPr>
          <a:xfrm>
            <a:off x="1243584" y="1901086"/>
            <a:ext cx="5262342" cy="2585323"/>
          </a:xfrm>
          <a:prstGeom prst="rect">
            <a:avLst/>
          </a:prstGeom>
          <a:noFill/>
        </p:spPr>
        <p:txBody>
          <a:bodyPr wrap="square" rtlCol="0">
            <a:spAutoFit/>
          </a:bodyPr>
          <a:lstStyle/>
          <a:p>
            <a:r>
              <a:rPr lang="en-IN" dirty="0"/>
              <a:t>Counterintuitive to the popular assumption, as demonstrated by the analysis – albeit with weaker degree of correlation ( r </a:t>
            </a:r>
            <a:r>
              <a:rPr lang="en-US" dirty="0"/>
              <a:t>≈ -0.106) – higher levels of income do not necessarily mean higher levels of per capita liquor consumption. Contrarily, the data seems to inconclusively suggest that higher income levels lead to lower per capita liquor consumption. </a:t>
            </a:r>
            <a:endParaRPr lang="en-IN" dirty="0"/>
          </a:p>
          <a:p>
            <a:endParaRPr lang="en-IN" dirty="0"/>
          </a:p>
          <a:p>
            <a:endParaRPr lang="en-US" dirty="0"/>
          </a:p>
        </p:txBody>
      </p:sp>
    </p:spTree>
    <p:extLst>
      <p:ext uri="{BB962C8B-B14F-4D97-AF65-F5344CB8AC3E}">
        <p14:creationId xmlns:p14="http://schemas.microsoft.com/office/powerpoint/2010/main" val="2685740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1C4C-4C71-C820-FC2F-2B6361E61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E8E8-FBCF-DDC5-D7C5-BABF9041DC10}"/>
              </a:ext>
            </a:extLst>
          </p:cNvPr>
          <p:cNvSpPr>
            <a:spLocks noGrp="1"/>
          </p:cNvSpPr>
          <p:nvPr>
            <p:ph type="title"/>
          </p:nvPr>
        </p:nvSpPr>
        <p:spPr/>
        <p:txBody>
          <a:bodyPr/>
          <a:lstStyle/>
          <a:p>
            <a:r>
              <a:rPr lang="en-IN" dirty="0"/>
              <a:t>Correlation Matrix Findings</a:t>
            </a:r>
            <a:endParaRPr lang="en-US" dirty="0"/>
          </a:p>
        </p:txBody>
      </p:sp>
      <p:pic>
        <p:nvPicPr>
          <p:cNvPr id="5" name="Content Placeholder 4">
            <a:extLst>
              <a:ext uri="{FF2B5EF4-FFF2-40B4-BE49-F238E27FC236}">
                <a16:creationId xmlns:a16="http://schemas.microsoft.com/office/drawing/2014/main" id="{964DF6B8-E257-9EE0-22C4-E7F4867433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8410" y="2248599"/>
            <a:ext cx="4827270" cy="4022725"/>
          </a:xfrm>
        </p:spPr>
      </p:pic>
      <p:sp>
        <p:nvSpPr>
          <p:cNvPr id="6" name="TextBox 5">
            <a:extLst>
              <a:ext uri="{FF2B5EF4-FFF2-40B4-BE49-F238E27FC236}">
                <a16:creationId xmlns:a16="http://schemas.microsoft.com/office/drawing/2014/main" id="{20CCDEB6-29F1-C9B4-959F-4C0DF8EAF338}"/>
              </a:ext>
            </a:extLst>
          </p:cNvPr>
          <p:cNvSpPr txBox="1"/>
          <p:nvPr/>
        </p:nvSpPr>
        <p:spPr>
          <a:xfrm>
            <a:off x="1182624" y="2248599"/>
            <a:ext cx="5145786" cy="2862322"/>
          </a:xfrm>
          <a:prstGeom prst="rect">
            <a:avLst/>
          </a:prstGeom>
          <a:noFill/>
        </p:spPr>
        <p:txBody>
          <a:bodyPr wrap="square" rtlCol="0">
            <a:spAutoFit/>
          </a:bodyPr>
          <a:lstStyle/>
          <a:p>
            <a:pPr marL="285750" indent="-285750">
              <a:buFont typeface="Arial" panose="020B0604020202020204" pitchFamily="34" charset="0"/>
              <a:buChar char="•"/>
            </a:pPr>
            <a:r>
              <a:rPr lang="en-IN" dirty="0"/>
              <a:t>Income has a poor correlation coefficient with total sales and per capita liquor sales. It is not a good predictor of per capita liquor sales and total liquor sales. </a:t>
            </a:r>
          </a:p>
          <a:p>
            <a:pPr marL="285750" indent="-285750">
              <a:buFont typeface="Arial" panose="020B0604020202020204" pitchFamily="34" charset="0"/>
              <a:buChar char="•"/>
            </a:pPr>
            <a:r>
              <a:rPr lang="en-IN" dirty="0"/>
              <a:t>Population is strongly correlated to total sales, but it is poorly correlated to per capita liquor sale. </a:t>
            </a:r>
          </a:p>
          <a:p>
            <a:pPr marL="285750" indent="-285750">
              <a:buFont typeface="Arial" panose="020B0604020202020204" pitchFamily="34" charset="0"/>
              <a:buChar char="•"/>
            </a:pPr>
            <a:r>
              <a:rPr lang="en-IN" dirty="0"/>
              <a:t>Consumption patterns seem to stem from factors outside this dataset, might be those associated with greater population levels, and cannot be explained by income levels. </a:t>
            </a:r>
            <a:endParaRPr lang="en-US" dirty="0"/>
          </a:p>
        </p:txBody>
      </p:sp>
    </p:spTree>
    <p:extLst>
      <p:ext uri="{BB962C8B-B14F-4D97-AF65-F5344CB8AC3E}">
        <p14:creationId xmlns:p14="http://schemas.microsoft.com/office/powerpoint/2010/main" val="4277456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C4C4D-88C8-39D7-9BD2-55630282A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3FC65-7C94-F917-56EB-ED73EF5EE351}"/>
              </a:ext>
            </a:extLst>
          </p:cNvPr>
          <p:cNvSpPr>
            <a:spLocks noGrp="1"/>
          </p:cNvSpPr>
          <p:nvPr>
            <p:ph type="title"/>
          </p:nvPr>
        </p:nvSpPr>
        <p:spPr/>
        <p:txBody>
          <a:bodyPr/>
          <a:lstStyle/>
          <a:p>
            <a:r>
              <a:rPr lang="en-IN" dirty="0"/>
              <a:t>Summary of Analytical Insights</a:t>
            </a:r>
            <a:endParaRPr lang="en-US" dirty="0"/>
          </a:p>
        </p:txBody>
      </p:sp>
      <p:sp>
        <p:nvSpPr>
          <p:cNvPr id="3" name="Content Placeholder 2">
            <a:extLst>
              <a:ext uri="{FF2B5EF4-FFF2-40B4-BE49-F238E27FC236}">
                <a16:creationId xmlns:a16="http://schemas.microsoft.com/office/drawing/2014/main" id="{3AD42898-14A5-4618-D304-F71930C51D96}"/>
              </a:ext>
            </a:extLst>
          </p:cNvPr>
          <p:cNvSpPr>
            <a:spLocks noGrp="1"/>
          </p:cNvSpPr>
          <p:nvPr>
            <p:ph idx="1"/>
          </p:nvPr>
        </p:nvSpPr>
        <p:spPr/>
        <p:txBody>
          <a:bodyPr/>
          <a:lstStyle/>
          <a:p>
            <a:pPr>
              <a:buFont typeface="Wingdings" panose="05000000000000000000" pitchFamily="2" charset="2"/>
              <a:buChar char="§"/>
            </a:pPr>
            <a:r>
              <a:rPr lang="en-IN" dirty="0"/>
              <a:t>Per capita consumption varies widely despite similar incomes. </a:t>
            </a:r>
          </a:p>
          <a:p>
            <a:pPr>
              <a:buFont typeface="Wingdings" panose="05000000000000000000" pitchFamily="2" charset="2"/>
              <a:buChar char="§"/>
            </a:pPr>
            <a:r>
              <a:rPr lang="en-IN" dirty="0"/>
              <a:t>Income does not predict consumption </a:t>
            </a:r>
            <a:r>
              <a:rPr lang="en-IN" dirty="0" err="1"/>
              <a:t>behavior</a:t>
            </a:r>
            <a:r>
              <a:rPr lang="en-IN" dirty="0"/>
              <a:t>. </a:t>
            </a:r>
          </a:p>
          <a:p>
            <a:pPr>
              <a:buFont typeface="Wingdings" panose="05000000000000000000" pitchFamily="2" charset="2"/>
              <a:buChar char="§"/>
            </a:pPr>
            <a:r>
              <a:rPr lang="en-IN" dirty="0"/>
              <a:t>Liquor category preferences seem stable across counties. </a:t>
            </a:r>
          </a:p>
          <a:p>
            <a:pPr>
              <a:buFont typeface="Wingdings" panose="05000000000000000000" pitchFamily="2" charset="2"/>
              <a:buChar char="§"/>
            </a:pPr>
            <a:r>
              <a:rPr lang="en-IN" dirty="0"/>
              <a:t>Population explains total sales, but not individual liquor spending</a:t>
            </a:r>
            <a:endParaRPr lang="en-US" dirty="0"/>
          </a:p>
        </p:txBody>
      </p:sp>
    </p:spTree>
    <p:extLst>
      <p:ext uri="{BB962C8B-B14F-4D97-AF65-F5344CB8AC3E}">
        <p14:creationId xmlns:p14="http://schemas.microsoft.com/office/powerpoint/2010/main" val="4050651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731B1-92F9-DDA0-4031-9A58DAF41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49979-CAAC-1626-093A-ABE554992C32}"/>
              </a:ext>
            </a:extLst>
          </p:cNvPr>
          <p:cNvSpPr>
            <a:spLocks noGrp="1"/>
          </p:cNvSpPr>
          <p:nvPr>
            <p:ph type="title"/>
          </p:nvPr>
        </p:nvSpPr>
        <p:spPr/>
        <p:txBody>
          <a:bodyPr/>
          <a:lstStyle/>
          <a:p>
            <a:r>
              <a:rPr lang="en-IN" dirty="0"/>
              <a:t>Policy Implications</a:t>
            </a:r>
            <a:endParaRPr lang="en-US" dirty="0"/>
          </a:p>
        </p:txBody>
      </p:sp>
      <p:sp>
        <p:nvSpPr>
          <p:cNvPr id="3" name="Content Placeholder 2">
            <a:extLst>
              <a:ext uri="{FF2B5EF4-FFF2-40B4-BE49-F238E27FC236}">
                <a16:creationId xmlns:a16="http://schemas.microsoft.com/office/drawing/2014/main" id="{1C967ECB-ADBF-D028-D00B-925794C7280F}"/>
              </a:ext>
            </a:extLst>
          </p:cNvPr>
          <p:cNvSpPr>
            <a:spLocks noGrp="1"/>
          </p:cNvSpPr>
          <p:nvPr>
            <p:ph idx="1"/>
          </p:nvPr>
        </p:nvSpPr>
        <p:spPr/>
        <p:txBody>
          <a:bodyPr/>
          <a:lstStyle/>
          <a:p>
            <a:r>
              <a:rPr lang="en-US" b="1" dirty="0"/>
              <a:t>For State Policymakers</a:t>
            </a:r>
            <a:endParaRPr lang="en-US" dirty="0"/>
          </a:p>
          <a:p>
            <a:pPr>
              <a:buFont typeface="Arial" panose="020B0604020202020204" pitchFamily="34" charset="0"/>
              <a:buChar char="•"/>
            </a:pPr>
            <a:r>
              <a:rPr lang="en-US" dirty="0"/>
              <a:t>Uniform alcohol tax structure is appropriate — income does not shape consumption</a:t>
            </a:r>
          </a:p>
          <a:p>
            <a:pPr>
              <a:buFont typeface="Arial" panose="020B0604020202020204" pitchFamily="34" charset="0"/>
              <a:buChar char="•"/>
            </a:pPr>
            <a:r>
              <a:rPr lang="en-US" dirty="0"/>
              <a:t>Counties with high per-capita spending merit targeted public-health interventions</a:t>
            </a:r>
          </a:p>
          <a:p>
            <a:r>
              <a:rPr lang="en-US" b="1" dirty="0"/>
              <a:t>For Public Health Agencies</a:t>
            </a:r>
            <a:endParaRPr lang="en-US" dirty="0"/>
          </a:p>
          <a:p>
            <a:pPr>
              <a:buFont typeface="Arial" panose="020B0604020202020204" pitchFamily="34" charset="0"/>
              <a:buChar char="•"/>
            </a:pPr>
            <a:r>
              <a:rPr lang="en-US" dirty="0"/>
              <a:t>Focus on behavioral drivers in outlier counties, and not income levels.</a:t>
            </a:r>
          </a:p>
          <a:p>
            <a:pPr>
              <a:buFont typeface="Arial" panose="020B0604020202020204" pitchFamily="34" charset="0"/>
              <a:buChar char="•"/>
            </a:pPr>
            <a:r>
              <a:rPr lang="en-US" dirty="0"/>
              <a:t>Deploy education and prevention resources strategically</a:t>
            </a:r>
          </a:p>
          <a:p>
            <a:r>
              <a:rPr lang="en-US" b="1" dirty="0"/>
              <a:t>For Liquor Distributors</a:t>
            </a:r>
            <a:endParaRPr lang="en-US" dirty="0"/>
          </a:p>
          <a:p>
            <a:pPr>
              <a:buFont typeface="Arial" panose="020B0604020202020204" pitchFamily="34" charset="0"/>
              <a:buChar char="•"/>
            </a:pPr>
            <a:r>
              <a:rPr lang="en-US" dirty="0"/>
              <a:t>Plan distribution based on population, not income levels</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15658111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482</TotalTime>
  <Words>745</Words>
  <Application>Microsoft Office PowerPoint</Application>
  <PresentationFormat>Widescreen</PresentationFormat>
  <Paragraphs>113</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Calibri Light</vt:lpstr>
      <vt:lpstr>Wingdings</vt:lpstr>
      <vt:lpstr>Retrospect</vt:lpstr>
      <vt:lpstr>Income and Liquor Spending Behavior Across Iowa Counties</vt:lpstr>
      <vt:lpstr>Project Rationale</vt:lpstr>
      <vt:lpstr>Data Sources</vt:lpstr>
      <vt:lpstr>Data Sources (Contd.)</vt:lpstr>
      <vt:lpstr>Per Capita Spending Transformation</vt:lpstr>
      <vt:lpstr>Descriptive Statistics: Income, Sales, and Population</vt:lpstr>
      <vt:lpstr>Distribution of Per Capita Spending</vt:lpstr>
      <vt:lpstr>Distribution of Per Capita Spending (Contd.)</vt:lpstr>
      <vt:lpstr>Total Sales by County</vt:lpstr>
      <vt:lpstr>PowerPoint Presentation</vt:lpstr>
      <vt:lpstr>Total Sales by County  (Contd.)</vt:lpstr>
      <vt:lpstr>Income vs Liquor Spending Per Capita</vt:lpstr>
      <vt:lpstr>Correlation Matrix Findings</vt:lpstr>
      <vt:lpstr>Summary of Analytical Insights</vt:lpstr>
      <vt:lpstr>Policy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Shreyansh Budhia</dc:creator>
  <cp:lastModifiedBy>Shreyansh Budhia</cp:lastModifiedBy>
  <cp:revision>2</cp:revision>
  <dcterms:created xsi:type="dcterms:W3CDTF">2025-12-07T06:44:53Z</dcterms:created>
  <dcterms:modified xsi:type="dcterms:W3CDTF">2025-12-07T14:47:30Z</dcterms:modified>
</cp:coreProperties>
</file>